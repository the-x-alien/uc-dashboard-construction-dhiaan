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Fraunces"/>
      <p:regular r:id="rId15"/>
      <p:bold r:id="rId16"/>
      <p:italic r:id="rId17"/>
      <p:boldItalic r:id="rId18"/>
    </p:embeddedFont>
    <p:embeddedFont>
      <p:font typeface="Inter"/>
      <p:regular r:id="rId19"/>
      <p:bold r:id="rId20"/>
      <p:italic r:id="rId21"/>
      <p:boldItalic r:id="rId22"/>
    </p:embeddedFont>
    <p:embeddedFont>
      <p:font typeface="IBM Plex Mon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bold.fntdata"/><Relationship Id="rId22" Type="http://schemas.openxmlformats.org/officeDocument/2006/relationships/font" Target="fonts/Inter-boldItalic.fntdata"/><Relationship Id="rId21" Type="http://schemas.openxmlformats.org/officeDocument/2006/relationships/font" Target="fonts/Inter-italic.fntdata"/><Relationship Id="rId24" Type="http://schemas.openxmlformats.org/officeDocument/2006/relationships/font" Target="fonts/IBMPlexMono-bold.fntdata"/><Relationship Id="rId23" Type="http://schemas.openxmlformats.org/officeDocument/2006/relationships/font" Target="fonts/IBMPlexMon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IBMPlexMono-boldItalic.fntdata"/><Relationship Id="rId25" Type="http://schemas.openxmlformats.org/officeDocument/2006/relationships/font" Target="fonts/IBMPlexMono-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Fraunces-regular.fntdata"/><Relationship Id="rId14" Type="http://schemas.openxmlformats.org/officeDocument/2006/relationships/slide" Target="slides/slide8.xml"/><Relationship Id="rId17" Type="http://schemas.openxmlformats.org/officeDocument/2006/relationships/font" Target="fonts/Fraunces-italic.fntdata"/><Relationship Id="rId16" Type="http://schemas.openxmlformats.org/officeDocument/2006/relationships/font" Target="fonts/Fraunces-bold.fntdata"/><Relationship Id="rId19" Type="http://schemas.openxmlformats.org/officeDocument/2006/relationships/font" Target="fonts/Inter-regular.fntdata"/><Relationship Id="rId18" Type="http://schemas.openxmlformats.org/officeDocument/2006/relationships/font" Target="fonts/Fraunce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9b1ad28a1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f9b1ad28a1_2_75: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f9b1ad28a1_2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f9b1ad28a1_2_96: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f9b1ad28a1_2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g3f9b1ad28a1_2_109: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9b1ad28a1_2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3f9b1ad28a1_2_117: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f9b1ad28a1_2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3f9b1ad28a1_2_143: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f9b1ad28a1_2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3f9b1ad28a1_2_161: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9b1ad28a1_2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g3f9b1ad28a1_2_17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f9b1ad28a1_2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f9b1ad28a1_2_19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252" y="459581"/>
            <a:ext cx="4114910" cy="3086100"/>
          </a:xfrm>
          <a:prstGeom prst="rect">
            <a:avLst/>
          </a:prstGeom>
          <a:noFill/>
          <a:ln>
            <a:noFill/>
          </a:ln>
        </p:spPr>
      </p:sp>
      <p:sp>
        <p:nvSpPr>
          <p:cNvPr id="109" name="Google Shape;109;p22"/>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25"/>
          <p:cNvSpPr/>
          <p:nvPr/>
        </p:nvSpPr>
        <p:spPr>
          <a:xfrm>
            <a:off x="0" y="0"/>
            <a:ext cx="9144015" cy="123444"/>
          </a:xfrm>
          <a:prstGeom prst="rect">
            <a:avLst/>
          </a:prstGeom>
          <a:solidFill>
            <a:srgbClr val="003262"/>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0" name="Google Shape;130;p25"/>
          <p:cNvSpPr txBox="1"/>
          <p:nvPr/>
        </p:nvSpPr>
        <p:spPr>
          <a:xfrm>
            <a:off x="411491" y="480060"/>
            <a:ext cx="82299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E6A200"/>
                </a:solidFill>
                <a:latin typeface="IBM Plex Mono"/>
                <a:ea typeface="IBM Plex Mono"/>
                <a:cs typeface="IBM Plex Mono"/>
                <a:sym typeface="IBM Plex Mono"/>
              </a:rPr>
              <a:t>UC ADMISSIONS DATA CHALLENGE 2026 team 5</a:t>
            </a:r>
            <a:endParaRPr sz="1100"/>
          </a:p>
        </p:txBody>
      </p:sp>
      <p:sp>
        <p:nvSpPr>
          <p:cNvPr id="131" name="Google Shape;131;p25"/>
          <p:cNvSpPr txBox="1"/>
          <p:nvPr/>
        </p:nvSpPr>
        <p:spPr>
          <a:xfrm>
            <a:off x="411491" y="1028700"/>
            <a:ext cx="8298401" cy="1371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3200" u="none" cap="none" strike="noStrike">
                <a:solidFill>
                  <a:srgbClr val="003262"/>
                </a:solidFill>
                <a:latin typeface="Fraunces"/>
                <a:ea typeface="Fraunces"/>
                <a:cs typeface="Fraunces"/>
                <a:sym typeface="Fraunces"/>
              </a:rPr>
              <a:t>Which California public schools beat their expected UC admit rate?</a:t>
            </a:r>
            <a:endParaRPr sz="1100"/>
          </a:p>
        </p:txBody>
      </p:sp>
      <p:sp>
        <p:nvSpPr>
          <p:cNvPr id="132" name="Google Shape;132;p25"/>
          <p:cNvSpPr txBox="1"/>
          <p:nvPr/>
        </p:nvSpPr>
        <p:spPr>
          <a:xfrm>
            <a:off x="411491" y="2331720"/>
            <a:ext cx="7886910" cy="822960"/>
          </a:xfrm>
          <a:prstGeom prst="rect">
            <a:avLst/>
          </a:prstGeom>
          <a:noFill/>
          <a:ln>
            <a:noFill/>
          </a:ln>
        </p:spPr>
        <p:txBody>
          <a:bodyPr anchorCtr="0" anchor="t" bIns="34275" lIns="68575" spcFirstLastPara="1" rIns="68575" wrap="square" tIns="34275">
            <a:spAutoFit/>
          </a:bodyPr>
          <a:lstStyle/>
          <a:p>
            <a:pPr indent="0" lvl="0" marL="0" marR="0" rtl="0" algn="l">
              <a:lnSpc>
                <a:spcPct val="120000"/>
              </a:lnSpc>
              <a:spcBef>
                <a:spcPts val="0"/>
              </a:spcBef>
              <a:spcAft>
                <a:spcPts val="0"/>
              </a:spcAft>
              <a:buNone/>
            </a:pPr>
            <a:r>
              <a:rPr b="0" i="0" lang="en" sz="1500" u="none" cap="none" strike="noStrike">
                <a:solidFill>
                  <a:srgbClr val="0E1726"/>
                </a:solidFill>
                <a:latin typeface="Inter"/>
                <a:ea typeface="Inter"/>
                <a:cs typeface="Inter"/>
                <a:sym typeface="Inter"/>
              </a:rPr>
              <a:t>A data dashboard built from real UC freshman admissions. We find the school type that most outperforms its predicted admit rate (after controlling for poverty, GPA, and size) and explain why it matters.</a:t>
            </a:r>
            <a:endParaRPr sz="1100"/>
          </a:p>
        </p:txBody>
      </p:sp>
      <p:sp>
        <p:nvSpPr>
          <p:cNvPr id="133" name="Google Shape;133;p25"/>
          <p:cNvSpPr/>
          <p:nvPr/>
        </p:nvSpPr>
        <p:spPr>
          <a:xfrm>
            <a:off x="411491" y="3429000"/>
            <a:ext cx="2537528" cy="102870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4" name="Google Shape;134;p25"/>
          <p:cNvSpPr/>
          <p:nvPr/>
        </p:nvSpPr>
        <p:spPr>
          <a:xfrm>
            <a:off x="411491" y="3429000"/>
            <a:ext cx="82298" cy="1028700"/>
          </a:xfrm>
          <a:prstGeom prst="rect">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5" name="Google Shape;135;p25"/>
          <p:cNvSpPr txBox="1"/>
          <p:nvPr/>
        </p:nvSpPr>
        <p:spPr>
          <a:xfrm>
            <a:off x="582946" y="3552444"/>
            <a:ext cx="2297491" cy="4800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003262"/>
                </a:solidFill>
                <a:latin typeface="Fraunces"/>
                <a:ea typeface="Fraunces"/>
                <a:cs typeface="Fraunces"/>
                <a:sym typeface="Fraunces"/>
              </a:rPr>
              <a:t>+21.5pp</a:t>
            </a:r>
            <a:endParaRPr sz="1100"/>
          </a:p>
        </p:txBody>
      </p:sp>
      <p:sp>
        <p:nvSpPr>
          <p:cNvPr id="136" name="Google Shape;136;p25"/>
          <p:cNvSpPr txBox="1"/>
          <p:nvPr/>
        </p:nvSpPr>
        <p:spPr>
          <a:xfrm>
            <a:off x="582946" y="4059936"/>
            <a:ext cx="22974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5A6473"/>
                </a:solidFill>
                <a:latin typeface="Inter"/>
                <a:ea typeface="Inter"/>
                <a:cs typeface="Inter"/>
                <a:sym typeface="Inter"/>
              </a:rPr>
              <a:t>Top school type beats expectation</a:t>
            </a:r>
            <a:endParaRPr sz="1100"/>
          </a:p>
        </p:txBody>
      </p:sp>
      <p:sp>
        <p:nvSpPr>
          <p:cNvPr id="137" name="Google Shape;137;p25"/>
          <p:cNvSpPr/>
          <p:nvPr/>
        </p:nvSpPr>
        <p:spPr>
          <a:xfrm>
            <a:off x="3291928" y="3429000"/>
            <a:ext cx="2537528" cy="102870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8" name="Google Shape;138;p25"/>
          <p:cNvSpPr/>
          <p:nvPr/>
        </p:nvSpPr>
        <p:spPr>
          <a:xfrm>
            <a:off x="3291928" y="3429000"/>
            <a:ext cx="82298" cy="1028700"/>
          </a:xfrm>
          <a:prstGeom prst="rect">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9" name="Google Shape;139;p25"/>
          <p:cNvSpPr txBox="1"/>
          <p:nvPr/>
        </p:nvSpPr>
        <p:spPr>
          <a:xfrm>
            <a:off x="3463382" y="3552444"/>
            <a:ext cx="2297491" cy="4800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003262"/>
                </a:solidFill>
                <a:latin typeface="Fraunces"/>
                <a:ea typeface="Fraunces"/>
                <a:cs typeface="Fraunces"/>
                <a:sym typeface="Fraunces"/>
              </a:rPr>
              <a:t>5</a:t>
            </a:r>
            <a:endParaRPr sz="1100"/>
          </a:p>
        </p:txBody>
      </p:sp>
      <p:sp>
        <p:nvSpPr>
          <p:cNvPr id="140" name="Google Shape;140;p25"/>
          <p:cNvSpPr txBox="1"/>
          <p:nvPr/>
        </p:nvSpPr>
        <p:spPr>
          <a:xfrm>
            <a:off x="3463382" y="4059936"/>
            <a:ext cx="22974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5A6473"/>
                </a:solidFill>
                <a:latin typeface="Inter"/>
                <a:ea typeface="Inter"/>
                <a:cs typeface="Inter"/>
                <a:sym typeface="Inter"/>
              </a:rPr>
              <a:t>School types compared</a:t>
            </a:r>
            <a:endParaRPr sz="1100"/>
          </a:p>
        </p:txBody>
      </p:sp>
      <p:sp>
        <p:nvSpPr>
          <p:cNvPr id="141" name="Google Shape;141;p25"/>
          <p:cNvSpPr/>
          <p:nvPr/>
        </p:nvSpPr>
        <p:spPr>
          <a:xfrm>
            <a:off x="6172365" y="3429000"/>
            <a:ext cx="2537528" cy="102870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2" name="Google Shape;142;p25"/>
          <p:cNvSpPr/>
          <p:nvPr/>
        </p:nvSpPr>
        <p:spPr>
          <a:xfrm>
            <a:off x="6172365" y="3429000"/>
            <a:ext cx="82298" cy="1028700"/>
          </a:xfrm>
          <a:prstGeom prst="rect">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3" name="Google Shape;143;p25"/>
          <p:cNvSpPr txBox="1"/>
          <p:nvPr/>
        </p:nvSpPr>
        <p:spPr>
          <a:xfrm>
            <a:off x="6343819" y="3552444"/>
            <a:ext cx="2297491" cy="4800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003262"/>
                </a:solidFill>
                <a:latin typeface="Fraunces"/>
                <a:ea typeface="Fraunces"/>
                <a:cs typeface="Fraunces"/>
                <a:sym typeface="Fraunces"/>
              </a:rPr>
              <a:t>80,533</a:t>
            </a:r>
            <a:endParaRPr sz="1100"/>
          </a:p>
        </p:txBody>
      </p:sp>
      <p:sp>
        <p:nvSpPr>
          <p:cNvPr id="144" name="Google Shape;144;p25"/>
          <p:cNvSpPr txBox="1"/>
          <p:nvPr/>
        </p:nvSpPr>
        <p:spPr>
          <a:xfrm>
            <a:off x="6343819" y="4059936"/>
            <a:ext cx="22974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5A6473"/>
                </a:solidFill>
                <a:latin typeface="Inter"/>
                <a:ea typeface="Inter"/>
                <a:cs typeface="Inter"/>
                <a:sym typeface="Inter"/>
              </a:rPr>
              <a:t>Applicants in view</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26"/>
          <p:cNvSpPr txBox="1"/>
          <p:nvPr/>
        </p:nvSpPr>
        <p:spPr>
          <a:xfrm>
            <a:off x="411491" y="308610"/>
            <a:ext cx="7544001"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E6A200"/>
                </a:solidFill>
                <a:latin typeface="IBM Plex Mono"/>
                <a:ea typeface="IBM Plex Mono"/>
                <a:cs typeface="IBM Plex Mono"/>
                <a:sym typeface="IBM Plex Mono"/>
              </a:rPr>
              <a:t>WHY THIS QUESTION</a:t>
            </a:r>
            <a:endParaRPr sz="1100"/>
          </a:p>
        </p:txBody>
      </p:sp>
      <p:sp>
        <p:nvSpPr>
          <p:cNvPr id="150" name="Google Shape;150;p26"/>
          <p:cNvSpPr txBox="1"/>
          <p:nvPr/>
        </p:nvSpPr>
        <p:spPr>
          <a:xfrm>
            <a:off x="411491" y="685800"/>
            <a:ext cx="8298401" cy="10972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3000" u="none" cap="none" strike="noStrike">
                <a:solidFill>
                  <a:srgbClr val="003262"/>
                </a:solidFill>
                <a:latin typeface="Fraunces"/>
                <a:ea typeface="Fraunces"/>
                <a:cs typeface="Fraunces"/>
                <a:sym typeface="Fraunces"/>
              </a:rPr>
              <a:t>Every school has a predicted admit rate. Some beat it.</a:t>
            </a:r>
            <a:endParaRPr sz="1100"/>
          </a:p>
        </p:txBody>
      </p:sp>
      <p:sp>
        <p:nvSpPr>
          <p:cNvPr id="151" name="Google Shape;151;p26"/>
          <p:cNvSpPr txBox="1"/>
          <p:nvPr/>
        </p:nvSpPr>
        <p:spPr>
          <a:xfrm>
            <a:off x="411491" y="1645920"/>
            <a:ext cx="8298401" cy="548640"/>
          </a:xfrm>
          <a:prstGeom prst="rect">
            <a:avLst/>
          </a:prstGeom>
          <a:noFill/>
          <a:ln>
            <a:noFill/>
          </a:ln>
        </p:spPr>
        <p:txBody>
          <a:bodyPr anchorCtr="0" anchor="t" bIns="34275" lIns="68575" spcFirstLastPara="1" rIns="68575" wrap="square" tIns="34275">
            <a:spAutoFit/>
          </a:bodyPr>
          <a:lstStyle/>
          <a:p>
            <a:pPr indent="0" lvl="0" marL="0" marR="0" rtl="0" algn="l">
              <a:lnSpc>
                <a:spcPct val="130000"/>
              </a:lnSpc>
              <a:spcBef>
                <a:spcPts val="0"/>
              </a:spcBef>
              <a:spcAft>
                <a:spcPts val="0"/>
              </a:spcAft>
              <a:buNone/>
            </a:pPr>
            <a:r>
              <a:rPr b="0" i="0" lang="en" sz="1400" u="none" cap="none" strike="noStrike">
                <a:solidFill>
                  <a:srgbClr val="0E1726"/>
                </a:solidFill>
                <a:latin typeface="Inter"/>
                <a:ea typeface="Inter"/>
                <a:cs typeface="Inter"/>
                <a:sym typeface="Inter"/>
              </a:rPr>
              <a:t>UC publishes an expected admit rate for each school, already adjusted for poverty (FRPM), applicant GPA, and school size. The gap between the real rate and that prediction is the story.</a:t>
            </a:r>
            <a:endParaRPr sz="1100"/>
          </a:p>
        </p:txBody>
      </p:sp>
      <p:sp>
        <p:nvSpPr>
          <p:cNvPr id="152" name="Google Shape;152;p26"/>
          <p:cNvSpPr/>
          <p:nvPr/>
        </p:nvSpPr>
        <p:spPr>
          <a:xfrm>
            <a:off x="411491" y="2537460"/>
            <a:ext cx="4046328" cy="164592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3" name="Google Shape;153;p26"/>
          <p:cNvSpPr txBox="1"/>
          <p:nvPr/>
        </p:nvSpPr>
        <p:spPr>
          <a:xfrm>
            <a:off x="582946" y="2674620"/>
            <a:ext cx="3703419"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rgbClr val="003262"/>
                </a:solidFill>
                <a:latin typeface="Fraunces"/>
                <a:ea typeface="Fraunces"/>
                <a:cs typeface="Fraunces"/>
                <a:sym typeface="Fraunces"/>
              </a:rPr>
              <a:t>What we asked</a:t>
            </a:r>
            <a:endParaRPr sz="1100"/>
          </a:p>
        </p:txBody>
      </p:sp>
      <p:sp>
        <p:nvSpPr>
          <p:cNvPr id="154" name="Google Shape;154;p26"/>
          <p:cNvSpPr txBox="1"/>
          <p:nvPr/>
        </p:nvSpPr>
        <p:spPr>
          <a:xfrm>
            <a:off x="582946" y="3086100"/>
            <a:ext cx="3703419" cy="10287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None/>
            </a:pPr>
            <a:r>
              <a:rPr b="0" i="0" lang="en" sz="1100" u="none" cap="none" strike="noStrike">
                <a:solidFill>
                  <a:srgbClr val="5A6473"/>
                </a:solidFill>
                <a:latin typeface="Inter"/>
                <a:ea typeface="Inter"/>
                <a:cs typeface="Inter"/>
                <a:sym typeface="Inter"/>
              </a:rPr>
              <a:t>For CA public high schools in 2022-2024, which school type most outperforms its expected UC freshman admit rate, after controlling for poverty, GPA, school size?</a:t>
            </a:r>
            <a:endParaRPr sz="1100"/>
          </a:p>
        </p:txBody>
      </p:sp>
      <p:sp>
        <p:nvSpPr>
          <p:cNvPr id="155" name="Google Shape;155;p26"/>
          <p:cNvSpPr/>
          <p:nvPr/>
        </p:nvSpPr>
        <p:spPr>
          <a:xfrm>
            <a:off x="4663564" y="2537460"/>
            <a:ext cx="4046328" cy="164592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6" name="Google Shape;156;p26"/>
          <p:cNvSpPr txBox="1"/>
          <p:nvPr/>
        </p:nvSpPr>
        <p:spPr>
          <a:xfrm>
            <a:off x="4835019" y="2674620"/>
            <a:ext cx="37035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rgbClr val="003262"/>
                </a:solidFill>
                <a:latin typeface="Fraunces"/>
                <a:ea typeface="Fraunces"/>
                <a:cs typeface="Fraunces"/>
                <a:sym typeface="Fraunces"/>
              </a:rPr>
              <a:t>Why </a:t>
            </a:r>
            <a:r>
              <a:rPr b="1" lang="en">
                <a:solidFill>
                  <a:srgbClr val="003262"/>
                </a:solidFill>
                <a:latin typeface="Fraunces"/>
                <a:ea typeface="Fraunces"/>
                <a:cs typeface="Fraunces"/>
                <a:sym typeface="Fraunces"/>
              </a:rPr>
              <a:t>you should </a:t>
            </a:r>
            <a:r>
              <a:rPr b="1" i="0" lang="en" sz="1400" u="none" cap="none" strike="noStrike">
                <a:solidFill>
                  <a:srgbClr val="003262"/>
                </a:solidFill>
                <a:latin typeface="Fraunces"/>
                <a:ea typeface="Fraunces"/>
                <a:cs typeface="Fraunces"/>
                <a:sym typeface="Fraunces"/>
              </a:rPr>
              <a:t>care</a:t>
            </a:r>
            <a:endParaRPr sz="1100"/>
          </a:p>
        </p:txBody>
      </p:sp>
      <p:sp>
        <p:nvSpPr>
          <p:cNvPr id="157" name="Google Shape;157;p26"/>
          <p:cNvSpPr txBox="1"/>
          <p:nvPr/>
        </p:nvSpPr>
        <p:spPr>
          <a:xfrm>
            <a:off x="4835019" y="3086100"/>
            <a:ext cx="3703419" cy="10287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None/>
            </a:pPr>
            <a:r>
              <a:rPr b="0" i="0" lang="en" sz="1100" u="none" cap="none" strike="noStrike">
                <a:solidFill>
                  <a:srgbClr val="5A6473"/>
                </a:solidFill>
                <a:latin typeface="Inter"/>
                <a:ea typeface="Inter"/>
                <a:cs typeface="Inter"/>
                <a:sym typeface="Inter"/>
              </a:rPr>
              <a:t>It surfaces the schools the model underestimates. The ones supposed to send the fewest students to UC are quietly beating the odds.</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27"/>
          <p:cNvSpPr txBox="1"/>
          <p:nvPr/>
        </p:nvSpPr>
        <p:spPr>
          <a:xfrm>
            <a:off x="411491" y="308610"/>
            <a:ext cx="7544001"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E6A200"/>
                </a:solidFill>
                <a:latin typeface="IBM Plex Mono"/>
                <a:ea typeface="IBM Plex Mono"/>
                <a:cs typeface="IBM Plex Mono"/>
                <a:sym typeface="IBM Plex Mono"/>
              </a:rPr>
              <a:t>DATA &amp; TOOLS</a:t>
            </a:r>
            <a:endParaRPr sz="1100"/>
          </a:p>
        </p:txBody>
      </p:sp>
      <p:sp>
        <p:nvSpPr>
          <p:cNvPr id="163" name="Google Shape;163;p27"/>
          <p:cNvSpPr txBox="1"/>
          <p:nvPr/>
        </p:nvSpPr>
        <p:spPr>
          <a:xfrm>
            <a:off x="411491" y="685800"/>
            <a:ext cx="8298401" cy="10972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3000" u="none" cap="none" strike="noStrike">
                <a:solidFill>
                  <a:srgbClr val="003262"/>
                </a:solidFill>
                <a:latin typeface="Fraunces"/>
                <a:ea typeface="Fraunces"/>
                <a:cs typeface="Fraunces"/>
                <a:sym typeface="Fraunces"/>
              </a:rPr>
              <a:t>Two real datasets, two tools</a:t>
            </a:r>
            <a:endParaRPr sz="1100"/>
          </a:p>
        </p:txBody>
      </p:sp>
      <p:sp>
        <p:nvSpPr>
          <p:cNvPr id="164" name="Google Shape;164;p27"/>
          <p:cNvSpPr txBox="1"/>
          <p:nvPr/>
        </p:nvSpPr>
        <p:spPr>
          <a:xfrm>
            <a:off x="411491" y="1371600"/>
            <a:ext cx="8298401" cy="23317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rgbClr val="0E1726"/>
                </a:solidFill>
                <a:latin typeface="Inter"/>
                <a:ea typeface="Inter"/>
                <a:cs typeface="Inter"/>
                <a:sym typeface="Inter"/>
              </a:rPr>
              <a:t>DATA  dashboard_data.csv - every CA school, campus, year, with a precomputed admit_rate_residual column</a:t>
            </a:r>
            <a:endParaRPr sz="1100"/>
          </a:p>
          <a:p>
            <a:pPr indent="0" lvl="0" marL="0" marR="0" rtl="0" algn="l">
              <a:spcBef>
                <a:spcPts val="800"/>
              </a:spcBef>
              <a:spcAft>
                <a:spcPts val="0"/>
              </a:spcAft>
              <a:buNone/>
            </a:pPr>
            <a:r>
              <a:rPr b="0" i="0" lang="en" sz="1400" u="none" cap="none" strike="noStrike">
                <a:solidFill>
                  <a:srgbClr val="0E1726"/>
                </a:solidFill>
                <a:latin typeface="Inter"/>
                <a:ea typeface="Inter"/>
                <a:cs typeface="Inter"/>
                <a:sym typeface="Inter"/>
              </a:rPr>
              <a:t>DATA  uc_freshman_admission_by_discipline.csv - campus discipline admit rates (CS context)</a:t>
            </a:r>
            <a:endParaRPr sz="1100"/>
          </a:p>
          <a:p>
            <a:pPr indent="0" lvl="0" marL="0" marR="0" rtl="0" algn="l">
              <a:spcBef>
                <a:spcPts val="800"/>
              </a:spcBef>
              <a:spcAft>
                <a:spcPts val="0"/>
              </a:spcAft>
              <a:buNone/>
            </a:pPr>
            <a:r>
              <a:rPr b="0" i="0" lang="en" sz="1400" u="none" cap="none" strike="noStrike">
                <a:solidFill>
                  <a:srgbClr val="0E1726"/>
                </a:solidFill>
                <a:latin typeface="Inter"/>
                <a:ea typeface="Inter"/>
                <a:cs typeface="Inter"/>
                <a:sym typeface="Inter"/>
              </a:rPr>
              <a:t>TOOL  Python + pandas to filter, group, and average the residual by school type</a:t>
            </a:r>
            <a:endParaRPr sz="1100"/>
          </a:p>
          <a:p>
            <a:pPr indent="0" lvl="0" marL="0" marR="0" rtl="0" algn="l">
              <a:spcBef>
                <a:spcPts val="800"/>
              </a:spcBef>
              <a:spcAft>
                <a:spcPts val="0"/>
              </a:spcAft>
              <a:buNone/>
            </a:pPr>
            <a:r>
              <a:rPr b="0" i="0" lang="en" sz="1400" u="none" cap="none" strike="noStrike">
                <a:solidFill>
                  <a:srgbClr val="0E1726"/>
                </a:solidFill>
                <a:latin typeface="Inter"/>
                <a:ea typeface="Inter"/>
                <a:cs typeface="Inter"/>
                <a:sym typeface="Inter"/>
              </a:rPr>
              <a:t>TOOL  Streamlit + Plotly for the live dashboard; Google Colab for the question sprint</a:t>
            </a:r>
            <a:endParaRPr sz="1100"/>
          </a:p>
        </p:txBody>
      </p:sp>
      <p:sp>
        <p:nvSpPr>
          <p:cNvPr id="165" name="Google Shape;165;p27"/>
          <p:cNvSpPr txBox="1"/>
          <p:nvPr/>
        </p:nvSpPr>
        <p:spPr>
          <a:xfrm>
            <a:off x="411491" y="3909060"/>
            <a:ext cx="8298401" cy="5486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1" lang="en" sz="1100" u="none" cap="none" strike="noStrike">
                <a:solidFill>
                  <a:srgbClr val="5A6473"/>
                </a:solidFill>
                <a:latin typeface="Inter"/>
                <a:ea typeface="Inter"/>
                <a:cs typeface="Inter"/>
                <a:sym typeface="Inter"/>
              </a:rPr>
              <a:t>Rigor check: we sum applicant/admit counts then divide. We never average percentages. Universitywide is not the sum of campuses.</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28"/>
          <p:cNvSpPr txBox="1"/>
          <p:nvPr/>
        </p:nvSpPr>
        <p:spPr>
          <a:xfrm>
            <a:off x="411491" y="308610"/>
            <a:ext cx="7544001"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E6A200"/>
                </a:solidFill>
                <a:latin typeface="IBM Plex Mono"/>
                <a:ea typeface="IBM Plex Mono"/>
                <a:cs typeface="IBM Plex Mono"/>
                <a:sym typeface="IBM Plex Mono"/>
              </a:rPr>
              <a:t>THE FINDING</a:t>
            </a:r>
            <a:endParaRPr sz="1100"/>
          </a:p>
        </p:txBody>
      </p:sp>
      <p:sp>
        <p:nvSpPr>
          <p:cNvPr id="171" name="Google Shape;171;p28"/>
          <p:cNvSpPr txBox="1"/>
          <p:nvPr/>
        </p:nvSpPr>
        <p:spPr>
          <a:xfrm>
            <a:off x="411491" y="685800"/>
            <a:ext cx="8298401" cy="10972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600" u="none" cap="none" strike="noStrike">
                <a:solidFill>
                  <a:srgbClr val="003262"/>
                </a:solidFill>
                <a:latin typeface="Fraunces"/>
                <a:ea typeface="Fraunces"/>
                <a:cs typeface="Fraunces"/>
                <a:sym typeface="Fraunces"/>
              </a:rPr>
              <a:t>Continuation High Schools lead by a wide margin</a:t>
            </a:r>
            <a:endParaRPr sz="1100"/>
          </a:p>
        </p:txBody>
      </p:sp>
      <p:sp>
        <p:nvSpPr>
          <p:cNvPr id="172" name="Google Shape;172;p28"/>
          <p:cNvSpPr txBox="1"/>
          <p:nvPr/>
        </p:nvSpPr>
        <p:spPr>
          <a:xfrm>
            <a:off x="411491" y="1508760"/>
            <a:ext cx="829840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300" u="none" cap="none" strike="noStrike">
                <a:solidFill>
                  <a:srgbClr val="0E1726"/>
                </a:solidFill>
                <a:latin typeface="Inter"/>
                <a:ea typeface="Inter"/>
                <a:cs typeface="Inter"/>
                <a:sym typeface="Inter"/>
              </a:rPr>
              <a:t>Beats-expected admit rate by school type (percentage points above the predicted rate):</a:t>
            </a:r>
            <a:endParaRPr sz="1100"/>
          </a:p>
        </p:txBody>
      </p:sp>
      <p:sp>
        <p:nvSpPr>
          <p:cNvPr id="173" name="Google Shape;173;p28"/>
          <p:cNvSpPr txBox="1"/>
          <p:nvPr/>
        </p:nvSpPr>
        <p:spPr>
          <a:xfrm>
            <a:off x="411491" y="2057400"/>
            <a:ext cx="2468946"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000" u="none" cap="none" strike="noStrike">
                <a:solidFill>
                  <a:srgbClr val="5A6473"/>
                </a:solidFill>
                <a:latin typeface="Inter"/>
                <a:ea typeface="Inter"/>
                <a:cs typeface="Inter"/>
                <a:sym typeface="Inter"/>
              </a:rPr>
              <a:t>Continuation High Schools</a:t>
            </a:r>
            <a:endParaRPr sz="1100"/>
          </a:p>
        </p:txBody>
      </p:sp>
      <p:sp>
        <p:nvSpPr>
          <p:cNvPr id="174" name="Google Shape;174;p28"/>
          <p:cNvSpPr/>
          <p:nvPr/>
        </p:nvSpPr>
        <p:spPr>
          <a:xfrm>
            <a:off x="2949019" y="2071116"/>
            <a:ext cx="5280801" cy="274320"/>
          </a:xfrm>
          <a:prstGeom prst="roundRect">
            <a:avLst>
              <a:gd fmla="val 16667" name="adj"/>
            </a:avLst>
          </a:prstGeom>
          <a:solidFill>
            <a:srgbClr val="F7F5F0"/>
          </a:solidFill>
          <a:ln cap="flat" cmpd="sng" w="9525">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5" name="Google Shape;175;p28"/>
          <p:cNvSpPr/>
          <p:nvPr/>
        </p:nvSpPr>
        <p:spPr>
          <a:xfrm>
            <a:off x="2949019" y="2071116"/>
            <a:ext cx="5280801" cy="274320"/>
          </a:xfrm>
          <a:prstGeom prst="roundRect">
            <a:avLst>
              <a:gd fmla="val 16667" name="adj"/>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6" name="Google Shape;176;p28"/>
          <p:cNvSpPr txBox="1"/>
          <p:nvPr/>
        </p:nvSpPr>
        <p:spPr>
          <a:xfrm>
            <a:off x="7612583" y="2071116"/>
            <a:ext cx="617236"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003262"/>
                </a:solidFill>
                <a:latin typeface="IBM Plex Mono"/>
                <a:ea typeface="IBM Plex Mono"/>
                <a:cs typeface="IBM Plex Mono"/>
                <a:sym typeface="IBM Plex Mono"/>
              </a:rPr>
              <a:t>+21.5</a:t>
            </a:r>
            <a:endParaRPr sz="1100"/>
          </a:p>
        </p:txBody>
      </p:sp>
      <p:sp>
        <p:nvSpPr>
          <p:cNvPr id="177" name="Google Shape;177;p28"/>
          <p:cNvSpPr txBox="1"/>
          <p:nvPr/>
        </p:nvSpPr>
        <p:spPr>
          <a:xfrm>
            <a:off x="411491" y="2468880"/>
            <a:ext cx="2468946"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000" u="none" cap="none" strike="noStrike">
                <a:solidFill>
                  <a:srgbClr val="5A6473"/>
                </a:solidFill>
                <a:latin typeface="Inter"/>
                <a:ea typeface="Inter"/>
                <a:cs typeface="Inter"/>
                <a:sym typeface="Inter"/>
              </a:rPr>
              <a:t>Alternative Schools of Choice</a:t>
            </a:r>
            <a:endParaRPr sz="1100"/>
          </a:p>
        </p:txBody>
      </p:sp>
      <p:sp>
        <p:nvSpPr>
          <p:cNvPr id="178" name="Google Shape;178;p28"/>
          <p:cNvSpPr/>
          <p:nvPr/>
        </p:nvSpPr>
        <p:spPr>
          <a:xfrm>
            <a:off x="2949019" y="2482596"/>
            <a:ext cx="5280801" cy="274320"/>
          </a:xfrm>
          <a:prstGeom prst="roundRect">
            <a:avLst>
              <a:gd fmla="val 16667" name="adj"/>
            </a:avLst>
          </a:prstGeom>
          <a:solidFill>
            <a:srgbClr val="F7F5F0"/>
          </a:solidFill>
          <a:ln cap="flat" cmpd="sng" w="9525">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9" name="Google Shape;179;p28"/>
          <p:cNvSpPr/>
          <p:nvPr/>
        </p:nvSpPr>
        <p:spPr>
          <a:xfrm>
            <a:off x="2949019" y="2482596"/>
            <a:ext cx="2217936" cy="274320"/>
          </a:xfrm>
          <a:prstGeom prst="roundRect">
            <a:avLst>
              <a:gd fmla="val 16667" name="adj"/>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0" name="Google Shape;180;p28"/>
          <p:cNvSpPr txBox="1"/>
          <p:nvPr/>
        </p:nvSpPr>
        <p:spPr>
          <a:xfrm>
            <a:off x="4549718" y="2482596"/>
            <a:ext cx="617236"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003262"/>
                </a:solidFill>
                <a:latin typeface="IBM Plex Mono"/>
                <a:ea typeface="IBM Plex Mono"/>
                <a:cs typeface="IBM Plex Mono"/>
                <a:sym typeface="IBM Plex Mono"/>
              </a:rPr>
              <a:t>+9.0</a:t>
            </a:r>
            <a:endParaRPr sz="1100"/>
          </a:p>
        </p:txBody>
      </p:sp>
      <p:sp>
        <p:nvSpPr>
          <p:cNvPr id="181" name="Google Shape;181;p28"/>
          <p:cNvSpPr txBox="1"/>
          <p:nvPr/>
        </p:nvSpPr>
        <p:spPr>
          <a:xfrm>
            <a:off x="411491" y="2880360"/>
            <a:ext cx="2468946"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000" u="none" cap="none" strike="noStrike">
                <a:solidFill>
                  <a:srgbClr val="5A6473"/>
                </a:solidFill>
                <a:latin typeface="Inter"/>
                <a:ea typeface="Inter"/>
                <a:cs typeface="Inter"/>
                <a:sym typeface="Inter"/>
              </a:rPr>
              <a:t>K-12 Schools (Public)</a:t>
            </a:r>
            <a:endParaRPr sz="1100"/>
          </a:p>
        </p:txBody>
      </p:sp>
      <p:sp>
        <p:nvSpPr>
          <p:cNvPr id="182" name="Google Shape;182;p28"/>
          <p:cNvSpPr/>
          <p:nvPr/>
        </p:nvSpPr>
        <p:spPr>
          <a:xfrm>
            <a:off x="2949019" y="2894076"/>
            <a:ext cx="5280801" cy="274320"/>
          </a:xfrm>
          <a:prstGeom prst="roundRect">
            <a:avLst>
              <a:gd fmla="val 16667" name="adj"/>
            </a:avLst>
          </a:prstGeom>
          <a:solidFill>
            <a:srgbClr val="F7F5F0"/>
          </a:solidFill>
          <a:ln cap="flat" cmpd="sng" w="9525">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3" name="Google Shape;183;p28"/>
          <p:cNvSpPr/>
          <p:nvPr/>
        </p:nvSpPr>
        <p:spPr>
          <a:xfrm>
            <a:off x="2949019" y="2894076"/>
            <a:ext cx="950544" cy="274320"/>
          </a:xfrm>
          <a:prstGeom prst="roundRect">
            <a:avLst>
              <a:gd fmla="val 16667" name="adj"/>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4" name="Google Shape;184;p28"/>
          <p:cNvSpPr txBox="1"/>
          <p:nvPr/>
        </p:nvSpPr>
        <p:spPr>
          <a:xfrm>
            <a:off x="3282326" y="2894076"/>
            <a:ext cx="617236"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003262"/>
                </a:solidFill>
                <a:latin typeface="IBM Plex Mono"/>
                <a:ea typeface="IBM Plex Mono"/>
                <a:cs typeface="IBM Plex Mono"/>
                <a:sym typeface="IBM Plex Mono"/>
              </a:rPr>
              <a:t>+3.9</a:t>
            </a:r>
            <a:endParaRPr sz="1100"/>
          </a:p>
        </p:txBody>
      </p:sp>
      <p:sp>
        <p:nvSpPr>
          <p:cNvPr id="185" name="Google Shape;185;p28"/>
          <p:cNvSpPr txBox="1"/>
          <p:nvPr/>
        </p:nvSpPr>
        <p:spPr>
          <a:xfrm>
            <a:off x="411491" y="3291840"/>
            <a:ext cx="2468946"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000" u="none" cap="none" strike="noStrike">
                <a:solidFill>
                  <a:srgbClr val="5A6473"/>
                </a:solidFill>
                <a:latin typeface="Inter"/>
                <a:ea typeface="Inter"/>
                <a:cs typeface="Inter"/>
                <a:sym typeface="Inter"/>
              </a:rPr>
              <a:t>High Schools (Public)</a:t>
            </a:r>
            <a:endParaRPr sz="1100"/>
          </a:p>
        </p:txBody>
      </p:sp>
      <p:sp>
        <p:nvSpPr>
          <p:cNvPr id="186" name="Google Shape;186;p28"/>
          <p:cNvSpPr/>
          <p:nvPr/>
        </p:nvSpPr>
        <p:spPr>
          <a:xfrm>
            <a:off x="2949019" y="3305555"/>
            <a:ext cx="5280801" cy="274320"/>
          </a:xfrm>
          <a:prstGeom prst="roundRect">
            <a:avLst>
              <a:gd fmla="val 16667" name="adj"/>
            </a:avLst>
          </a:prstGeom>
          <a:solidFill>
            <a:srgbClr val="F7F5F0"/>
          </a:solidFill>
          <a:ln cap="flat" cmpd="sng" w="9525">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7" name="Google Shape;187;p28"/>
          <p:cNvSpPr/>
          <p:nvPr/>
        </p:nvSpPr>
        <p:spPr>
          <a:xfrm>
            <a:off x="2949019" y="3305555"/>
            <a:ext cx="422464" cy="274320"/>
          </a:xfrm>
          <a:prstGeom prst="roundRect">
            <a:avLst>
              <a:gd fmla="val 16667" name="adj"/>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8" name="Google Shape;188;p28"/>
          <p:cNvSpPr txBox="1"/>
          <p:nvPr/>
        </p:nvSpPr>
        <p:spPr>
          <a:xfrm>
            <a:off x="2949019" y="3305555"/>
            <a:ext cx="617236"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003262"/>
                </a:solidFill>
                <a:latin typeface="IBM Plex Mono"/>
                <a:ea typeface="IBM Plex Mono"/>
                <a:cs typeface="IBM Plex Mono"/>
                <a:sym typeface="IBM Plex Mono"/>
              </a:rPr>
              <a:t>+1.7</a:t>
            </a:r>
            <a:endParaRPr sz="1100"/>
          </a:p>
        </p:txBody>
      </p:sp>
      <p:sp>
        <p:nvSpPr>
          <p:cNvPr id="189" name="Google Shape;189;p28"/>
          <p:cNvSpPr txBox="1"/>
          <p:nvPr/>
        </p:nvSpPr>
        <p:spPr>
          <a:xfrm>
            <a:off x="411491" y="3703320"/>
            <a:ext cx="2468946"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000" u="none" cap="none" strike="noStrike">
                <a:solidFill>
                  <a:srgbClr val="5A6473"/>
                </a:solidFill>
                <a:latin typeface="Inter"/>
                <a:ea typeface="Inter"/>
                <a:cs typeface="Inter"/>
                <a:sym typeface="Inter"/>
              </a:rPr>
              <a:t>High Schools in 1 District</a:t>
            </a:r>
            <a:endParaRPr sz="1100"/>
          </a:p>
        </p:txBody>
      </p:sp>
      <p:sp>
        <p:nvSpPr>
          <p:cNvPr id="190" name="Google Shape;190;p28"/>
          <p:cNvSpPr/>
          <p:nvPr/>
        </p:nvSpPr>
        <p:spPr>
          <a:xfrm>
            <a:off x="2949019" y="3717036"/>
            <a:ext cx="5280801" cy="274320"/>
          </a:xfrm>
          <a:prstGeom prst="roundRect">
            <a:avLst>
              <a:gd fmla="val 16667" name="adj"/>
            </a:avLst>
          </a:prstGeom>
          <a:solidFill>
            <a:srgbClr val="F7F5F0"/>
          </a:solidFill>
          <a:ln cap="flat" cmpd="sng" w="9525">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1" name="Google Shape;191;p28"/>
          <p:cNvSpPr txBox="1"/>
          <p:nvPr/>
        </p:nvSpPr>
        <p:spPr>
          <a:xfrm>
            <a:off x="411491" y="4320540"/>
            <a:ext cx="8298401" cy="5486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1" lang="en" sz="1100" u="none" cap="none" strike="noStrike">
                <a:solidFill>
                  <a:srgbClr val="5A6473"/>
                </a:solidFill>
                <a:latin typeface="Inter"/>
                <a:ea typeface="Inter"/>
                <a:cs typeface="Inter"/>
                <a:sym typeface="Inter"/>
              </a:rPr>
              <a:t>Regular public high schools barely beat expectation (+1.7pp). The schools expected to send the fewest students to UC most outperform their profile.</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 name="Shape 195"/>
        <p:cNvGrpSpPr/>
        <p:nvPr/>
      </p:nvGrpSpPr>
      <p:grpSpPr>
        <a:xfrm>
          <a:off x="0" y="0"/>
          <a:ext cx="0" cy="0"/>
          <a:chOff x="0" y="0"/>
          <a:chExt cx="0" cy="0"/>
        </a:xfrm>
      </p:grpSpPr>
      <p:sp>
        <p:nvSpPr>
          <p:cNvPr id="196" name="Google Shape;196;p29"/>
          <p:cNvSpPr txBox="1"/>
          <p:nvPr/>
        </p:nvSpPr>
        <p:spPr>
          <a:xfrm>
            <a:off x="411491" y="308610"/>
            <a:ext cx="7544001"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E6A200"/>
                </a:solidFill>
                <a:latin typeface="IBM Plex Mono"/>
                <a:ea typeface="IBM Plex Mono"/>
                <a:cs typeface="IBM Plex Mono"/>
                <a:sym typeface="IBM Plex Mono"/>
              </a:rPr>
              <a:t>DASHBOARD</a:t>
            </a:r>
            <a:endParaRPr sz="1100"/>
          </a:p>
        </p:txBody>
      </p:sp>
      <p:sp>
        <p:nvSpPr>
          <p:cNvPr id="197" name="Google Shape;197;p29"/>
          <p:cNvSpPr txBox="1"/>
          <p:nvPr/>
        </p:nvSpPr>
        <p:spPr>
          <a:xfrm>
            <a:off x="411491" y="685800"/>
            <a:ext cx="8298401" cy="10972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600" u="none" cap="none" strike="noStrike">
                <a:solidFill>
                  <a:srgbClr val="003262"/>
                </a:solidFill>
                <a:latin typeface="Fraunces"/>
                <a:ea typeface="Fraunces"/>
                <a:cs typeface="Fraunces"/>
                <a:sym typeface="Fraunces"/>
              </a:rPr>
              <a:t>What the app shows</a:t>
            </a:r>
            <a:endParaRPr sz="1100"/>
          </a:p>
        </p:txBody>
      </p:sp>
      <p:sp>
        <p:nvSpPr>
          <p:cNvPr id="198" name="Google Shape;198;p29"/>
          <p:cNvSpPr/>
          <p:nvPr/>
        </p:nvSpPr>
        <p:spPr>
          <a:xfrm>
            <a:off x="411491" y="1440180"/>
            <a:ext cx="4046328" cy="144018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9" name="Google Shape;199;p29"/>
          <p:cNvSpPr txBox="1"/>
          <p:nvPr/>
        </p:nvSpPr>
        <p:spPr>
          <a:xfrm>
            <a:off x="582946" y="1577340"/>
            <a:ext cx="3703419"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rgbClr val="003262"/>
                </a:solidFill>
                <a:latin typeface="Fraunces"/>
                <a:ea typeface="Fraunces"/>
                <a:cs typeface="Fraunces"/>
                <a:sym typeface="Fraunces"/>
              </a:rPr>
              <a:t>Overview</a:t>
            </a:r>
            <a:endParaRPr sz="1100"/>
          </a:p>
        </p:txBody>
      </p:sp>
      <p:sp>
        <p:nvSpPr>
          <p:cNvPr id="200" name="Google Shape;200;p29"/>
          <p:cNvSpPr txBox="1"/>
          <p:nvPr/>
        </p:nvSpPr>
        <p:spPr>
          <a:xfrm>
            <a:off x="582946" y="1988820"/>
            <a:ext cx="3703419" cy="82296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None/>
            </a:pPr>
            <a:r>
              <a:rPr b="0" i="0" lang="en" sz="1100" u="none" cap="none" strike="noStrike">
                <a:solidFill>
                  <a:srgbClr val="5A6473"/>
                </a:solidFill>
                <a:latin typeface="Inter"/>
                <a:ea typeface="Inter"/>
                <a:cs typeface="Inter"/>
                <a:sym typeface="Inter"/>
              </a:rPr>
              <a:t>KPI cards + a bar chart of every school type's over-performance. Green above zero, red below.</a:t>
            </a:r>
            <a:endParaRPr sz="1100"/>
          </a:p>
        </p:txBody>
      </p:sp>
      <p:sp>
        <p:nvSpPr>
          <p:cNvPr id="201" name="Google Shape;201;p29"/>
          <p:cNvSpPr/>
          <p:nvPr/>
        </p:nvSpPr>
        <p:spPr>
          <a:xfrm>
            <a:off x="4663564" y="1440180"/>
            <a:ext cx="4046328" cy="144018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2" name="Google Shape;202;p29"/>
          <p:cNvSpPr txBox="1"/>
          <p:nvPr/>
        </p:nvSpPr>
        <p:spPr>
          <a:xfrm>
            <a:off x="4835019" y="1577340"/>
            <a:ext cx="3703419"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rgbClr val="003262"/>
                </a:solidFill>
                <a:latin typeface="Fraunces"/>
                <a:ea typeface="Fraunces"/>
                <a:cs typeface="Fraunces"/>
                <a:sym typeface="Fraunces"/>
              </a:rPr>
              <a:t>School map</a:t>
            </a:r>
            <a:endParaRPr sz="1100"/>
          </a:p>
        </p:txBody>
      </p:sp>
      <p:sp>
        <p:nvSpPr>
          <p:cNvPr id="203" name="Google Shape;203;p29"/>
          <p:cNvSpPr txBox="1"/>
          <p:nvPr/>
        </p:nvSpPr>
        <p:spPr>
          <a:xfrm>
            <a:off x="4835019" y="1988820"/>
            <a:ext cx="3703419" cy="82296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None/>
            </a:pPr>
            <a:r>
              <a:rPr b="0" i="0" lang="en" sz="1100" u="none" cap="none" strike="noStrike">
                <a:solidFill>
                  <a:srgbClr val="5A6473"/>
                </a:solidFill>
                <a:latin typeface="Inter"/>
                <a:ea typeface="Inter"/>
                <a:cs typeface="Inter"/>
                <a:sym typeface="Inter"/>
              </a:rPr>
              <a:t>Every CA public school plotted, colored green (beats) to red (below). Filter by type in the sidebar.</a:t>
            </a:r>
            <a:endParaRPr sz="1100"/>
          </a:p>
        </p:txBody>
      </p:sp>
      <p:sp>
        <p:nvSpPr>
          <p:cNvPr id="204" name="Google Shape;204;p29"/>
          <p:cNvSpPr/>
          <p:nvPr/>
        </p:nvSpPr>
        <p:spPr>
          <a:xfrm>
            <a:off x="411491" y="3086100"/>
            <a:ext cx="4046328" cy="144018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5" name="Google Shape;205;p29"/>
          <p:cNvSpPr txBox="1"/>
          <p:nvPr/>
        </p:nvSpPr>
        <p:spPr>
          <a:xfrm>
            <a:off x="582946" y="3223260"/>
            <a:ext cx="3703419"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rgbClr val="003262"/>
                </a:solidFill>
                <a:latin typeface="Fraunces"/>
                <a:ea typeface="Fraunces"/>
                <a:cs typeface="Fraunces"/>
                <a:sym typeface="Fraunces"/>
              </a:rPr>
              <a:t>Top schools</a:t>
            </a:r>
            <a:endParaRPr sz="1100"/>
          </a:p>
        </p:txBody>
      </p:sp>
      <p:sp>
        <p:nvSpPr>
          <p:cNvPr id="206" name="Google Shape;206;p29"/>
          <p:cNvSpPr txBox="1"/>
          <p:nvPr/>
        </p:nvSpPr>
        <p:spPr>
          <a:xfrm>
            <a:off x="582946" y="3634740"/>
            <a:ext cx="3703419" cy="82296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None/>
            </a:pPr>
            <a:r>
              <a:rPr b="0" i="0" lang="en" sz="1100" u="none" cap="none" strike="noStrike">
                <a:solidFill>
                  <a:srgbClr val="5A6473"/>
                </a:solidFill>
                <a:latin typeface="Inter"/>
                <a:ea typeface="Inter"/>
                <a:cs typeface="Inter"/>
                <a:sym typeface="Inter"/>
              </a:rPr>
              <a:t>Circle of Independent Learning +28.3, Coliseum College Prep +24.8, Mission Senior High +24.3.</a:t>
            </a:r>
            <a:endParaRPr sz="1100"/>
          </a:p>
        </p:txBody>
      </p:sp>
      <p:sp>
        <p:nvSpPr>
          <p:cNvPr id="207" name="Google Shape;207;p29"/>
          <p:cNvSpPr/>
          <p:nvPr/>
        </p:nvSpPr>
        <p:spPr>
          <a:xfrm>
            <a:off x="4663564" y="3086100"/>
            <a:ext cx="4046328" cy="144018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8" name="Google Shape;208;p29"/>
          <p:cNvSpPr txBox="1"/>
          <p:nvPr/>
        </p:nvSpPr>
        <p:spPr>
          <a:xfrm>
            <a:off x="4835019" y="3223260"/>
            <a:ext cx="3703419"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rgbClr val="003262"/>
                </a:solidFill>
                <a:latin typeface="Fraunces"/>
                <a:ea typeface="Fraunces"/>
                <a:cs typeface="Fraunces"/>
                <a:sym typeface="Fraunces"/>
              </a:rPr>
              <a:t>CS context + Deep analysis</a:t>
            </a:r>
            <a:endParaRPr sz="1100"/>
          </a:p>
        </p:txBody>
      </p:sp>
      <p:sp>
        <p:nvSpPr>
          <p:cNvPr id="209" name="Google Shape;209;p29"/>
          <p:cNvSpPr txBox="1"/>
          <p:nvPr/>
        </p:nvSpPr>
        <p:spPr>
          <a:xfrm>
            <a:off x="4835019" y="3634740"/>
            <a:ext cx="3703419" cy="82296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None/>
            </a:pPr>
            <a:r>
              <a:rPr b="0" i="0" lang="en" sz="1100" u="none" cap="none" strike="noStrike">
                <a:solidFill>
                  <a:srgbClr val="5A6473"/>
                </a:solidFill>
                <a:latin typeface="Inter"/>
                <a:ea typeface="Inter"/>
                <a:cs typeface="Inter"/>
                <a:sym typeface="Inter"/>
              </a:rPr>
              <a:t>Crowded finding (CS lowers odds, Davis harshest) shown as context. Plus FRPM/GPA/size breakdowns.</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 name="Shape 213"/>
        <p:cNvGrpSpPr/>
        <p:nvPr/>
      </p:nvGrpSpPr>
      <p:grpSpPr>
        <a:xfrm>
          <a:off x="0" y="0"/>
          <a:ext cx="0" cy="0"/>
          <a:chOff x="0" y="0"/>
          <a:chExt cx="0" cy="0"/>
        </a:xfrm>
      </p:grpSpPr>
      <p:sp>
        <p:nvSpPr>
          <p:cNvPr id="214" name="Google Shape;214;p30"/>
          <p:cNvSpPr txBox="1"/>
          <p:nvPr/>
        </p:nvSpPr>
        <p:spPr>
          <a:xfrm>
            <a:off x="411491" y="308610"/>
            <a:ext cx="7544001"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E6A200"/>
                </a:solidFill>
                <a:latin typeface="IBM Plex Mono"/>
                <a:ea typeface="IBM Plex Mono"/>
                <a:cs typeface="IBM Plex Mono"/>
                <a:sym typeface="IBM Plex Mono"/>
              </a:rPr>
              <a:t>SMART AI USE</a:t>
            </a:r>
            <a:endParaRPr sz="1100"/>
          </a:p>
        </p:txBody>
      </p:sp>
      <p:sp>
        <p:nvSpPr>
          <p:cNvPr id="215" name="Google Shape;215;p30"/>
          <p:cNvSpPr txBox="1"/>
          <p:nvPr/>
        </p:nvSpPr>
        <p:spPr>
          <a:xfrm>
            <a:off x="411491" y="685800"/>
            <a:ext cx="8298401" cy="10972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600" u="none" cap="none" strike="noStrike">
                <a:solidFill>
                  <a:srgbClr val="003262"/>
                </a:solidFill>
                <a:latin typeface="Fraunces"/>
                <a:ea typeface="Fraunces"/>
                <a:cs typeface="Fraunces"/>
                <a:sym typeface="Fraunces"/>
              </a:rPr>
              <a:t>We used Gemini to stress-test the work</a:t>
            </a:r>
            <a:endParaRPr sz="1100"/>
          </a:p>
        </p:txBody>
      </p:sp>
      <p:sp>
        <p:nvSpPr>
          <p:cNvPr id="216" name="Google Shape;216;p30"/>
          <p:cNvSpPr txBox="1"/>
          <p:nvPr/>
        </p:nvSpPr>
        <p:spPr>
          <a:xfrm>
            <a:off x="411491" y="1685160"/>
            <a:ext cx="8298300" cy="469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300" u="none" cap="none" strike="noStrike">
                <a:solidFill>
                  <a:srgbClr val="0E1726"/>
                </a:solidFill>
                <a:latin typeface="Inter"/>
                <a:ea typeface="Inter"/>
                <a:cs typeface="Inter"/>
                <a:sym typeface="Inter"/>
              </a:rPr>
              <a:t>Not to generate the finding, but to pressure-test it: judging our scorecard, scanning rivals, drafting a hook.</a:t>
            </a:r>
            <a:endParaRPr sz="1100"/>
          </a:p>
        </p:txBody>
      </p:sp>
      <p:sp>
        <p:nvSpPr>
          <p:cNvPr id="217" name="Google Shape;217;p30"/>
          <p:cNvSpPr txBox="1"/>
          <p:nvPr/>
        </p:nvSpPr>
        <p:spPr>
          <a:xfrm>
            <a:off x="411541" y="2571750"/>
            <a:ext cx="82983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rgbClr val="0E1726"/>
                </a:solidFill>
                <a:latin typeface="Inter"/>
                <a:ea typeface="Inter"/>
                <a:cs typeface="Inter"/>
                <a:sym typeface="Inter"/>
              </a:rPr>
              <a:t>Ask-the-data: Gemini answers questions using only the real numbers we computed (it cannot invent stats)</a:t>
            </a:r>
            <a:endParaRPr sz="1100"/>
          </a:p>
        </p:txBody>
      </p:sp>
      <p:sp>
        <p:nvSpPr>
          <p:cNvPr id="218" name="Google Shape;218;p30"/>
          <p:cNvSpPr txBox="1"/>
          <p:nvPr/>
        </p:nvSpPr>
        <p:spPr>
          <a:xfrm>
            <a:off x="411491" y="4183380"/>
            <a:ext cx="8298401" cy="4114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1" lang="en" sz="1000" u="none" cap="none" strike="noStrike">
                <a:solidFill>
                  <a:srgbClr val="5A6473"/>
                </a:solidFill>
                <a:latin typeface="Inter"/>
                <a:ea typeface="Inter"/>
                <a:cs typeface="Inter"/>
                <a:sym typeface="Inter"/>
              </a:rPr>
              <a:t>Key is entered in-settings, free Gemini models only, never stored.</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262"/>
        </a:solidFill>
      </p:bgPr>
    </p:bg>
    <p:spTree>
      <p:nvGrpSpPr>
        <p:cNvPr id="222" name="Shape 222"/>
        <p:cNvGrpSpPr/>
        <p:nvPr/>
      </p:nvGrpSpPr>
      <p:grpSpPr>
        <a:xfrm>
          <a:off x="0" y="0"/>
          <a:ext cx="0" cy="0"/>
          <a:chOff x="0" y="0"/>
          <a:chExt cx="0" cy="0"/>
        </a:xfrm>
      </p:grpSpPr>
      <p:sp>
        <p:nvSpPr>
          <p:cNvPr id="223" name="Google Shape;223;p31"/>
          <p:cNvSpPr/>
          <p:nvPr/>
        </p:nvSpPr>
        <p:spPr>
          <a:xfrm>
            <a:off x="0" y="0"/>
            <a:ext cx="9144015" cy="123444"/>
          </a:xfrm>
          <a:prstGeom prst="rect">
            <a:avLst/>
          </a:prstGeom>
          <a:solidFill>
            <a:srgbClr val="FDB515"/>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4" name="Google Shape;224;p31"/>
          <p:cNvSpPr txBox="1"/>
          <p:nvPr/>
        </p:nvSpPr>
        <p:spPr>
          <a:xfrm>
            <a:off x="411491" y="480060"/>
            <a:ext cx="8229819"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E6A200"/>
                </a:solidFill>
                <a:latin typeface="IBM Plex Mono"/>
                <a:ea typeface="IBM Plex Mono"/>
                <a:cs typeface="IBM Plex Mono"/>
                <a:sym typeface="IBM Plex Mono"/>
              </a:rPr>
              <a:t>THE OPENER</a:t>
            </a:r>
            <a:endParaRPr sz="1100"/>
          </a:p>
        </p:txBody>
      </p:sp>
      <p:sp>
        <p:nvSpPr>
          <p:cNvPr id="225" name="Google Shape;225;p31"/>
          <p:cNvSpPr txBox="1"/>
          <p:nvPr/>
        </p:nvSpPr>
        <p:spPr>
          <a:xfrm>
            <a:off x="548655" y="1094630"/>
            <a:ext cx="8024100" cy="883500"/>
          </a:xfrm>
          <a:prstGeom prst="rect">
            <a:avLst/>
          </a:prstGeom>
          <a:noFill/>
          <a:ln>
            <a:noFill/>
          </a:ln>
        </p:spPr>
        <p:txBody>
          <a:bodyPr anchorCtr="0" anchor="t" bIns="34275" lIns="68575" spcFirstLastPara="1" rIns="68575" wrap="square" tIns="34275">
            <a:spAutoFit/>
          </a:bodyPr>
          <a:lstStyle/>
          <a:p>
            <a:pPr indent="0" lvl="0" marL="0" marR="0" rtl="0" algn="l">
              <a:lnSpc>
                <a:spcPct val="130000"/>
              </a:lnSpc>
              <a:spcBef>
                <a:spcPts val="0"/>
              </a:spcBef>
              <a:spcAft>
                <a:spcPts val="0"/>
              </a:spcAft>
              <a:buNone/>
            </a:pPr>
            <a:r>
              <a:rPr b="0" i="1" lang="en" sz="2300" u="none" cap="none" strike="noStrike">
                <a:solidFill>
                  <a:srgbClr val="FFFFFF"/>
                </a:solidFill>
                <a:latin typeface="Fraunces"/>
                <a:ea typeface="Fraunces"/>
                <a:cs typeface="Fraunces"/>
                <a:sym typeface="Fraunces"/>
              </a:rPr>
              <a:t>"The schools predicted to send the fewest students to UC are the ones quietly beating the odds by 21 points."</a:t>
            </a:r>
            <a:endParaRPr sz="1100"/>
          </a:p>
        </p:txBody>
      </p:sp>
      <p:sp>
        <p:nvSpPr>
          <p:cNvPr id="226" name="Google Shape;226;p31"/>
          <p:cNvSpPr txBox="1"/>
          <p:nvPr/>
        </p:nvSpPr>
        <p:spPr>
          <a:xfrm>
            <a:off x="548655" y="2574456"/>
            <a:ext cx="80241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rgbClr val="C9D4E0"/>
                </a:solidFill>
                <a:latin typeface="Inter"/>
                <a:ea typeface="Inter"/>
                <a:cs typeface="Inter"/>
                <a:sym typeface="Inter"/>
              </a:rPr>
              <a:t>That is the counterintuitive core: expectation is not destiny. Continuation high schools outperform their profile more than any other public school type in California.</a:t>
            </a:r>
            <a:endParaRPr sz="1100"/>
          </a:p>
        </p:txBody>
      </p:sp>
      <p:sp>
        <p:nvSpPr>
          <p:cNvPr id="227" name="Google Shape;227;p31"/>
          <p:cNvSpPr/>
          <p:nvPr/>
        </p:nvSpPr>
        <p:spPr>
          <a:xfrm>
            <a:off x="548655" y="4114800"/>
            <a:ext cx="2537400" cy="102870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8" name="Google Shape;228;p31"/>
          <p:cNvSpPr/>
          <p:nvPr/>
        </p:nvSpPr>
        <p:spPr>
          <a:xfrm>
            <a:off x="548655" y="4114800"/>
            <a:ext cx="82200" cy="1028700"/>
          </a:xfrm>
          <a:prstGeom prst="rect">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9" name="Google Shape;229;p31"/>
          <p:cNvSpPr txBox="1"/>
          <p:nvPr/>
        </p:nvSpPr>
        <p:spPr>
          <a:xfrm>
            <a:off x="720109" y="4238244"/>
            <a:ext cx="2297400" cy="48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003262"/>
                </a:solidFill>
                <a:latin typeface="Fraunces"/>
                <a:ea typeface="Fraunces"/>
                <a:cs typeface="Fraunces"/>
                <a:sym typeface="Fraunces"/>
              </a:rPr>
              <a:t>+21.5pp</a:t>
            </a:r>
            <a:endParaRPr sz="1100"/>
          </a:p>
        </p:txBody>
      </p:sp>
      <p:sp>
        <p:nvSpPr>
          <p:cNvPr id="230" name="Google Shape;230;p31"/>
          <p:cNvSpPr txBox="1"/>
          <p:nvPr/>
        </p:nvSpPr>
        <p:spPr>
          <a:xfrm>
            <a:off x="720109" y="4745736"/>
            <a:ext cx="22974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5A6473"/>
                </a:solidFill>
                <a:latin typeface="Inter"/>
                <a:ea typeface="Inter"/>
                <a:cs typeface="Inter"/>
                <a:sym typeface="Inter"/>
              </a:rPr>
              <a:t>Continuation High Schools</a:t>
            </a:r>
            <a:endParaRPr sz="1100"/>
          </a:p>
        </p:txBody>
      </p:sp>
      <p:sp>
        <p:nvSpPr>
          <p:cNvPr id="231" name="Google Shape;231;p31"/>
          <p:cNvSpPr/>
          <p:nvPr/>
        </p:nvSpPr>
        <p:spPr>
          <a:xfrm>
            <a:off x="3291928" y="4114800"/>
            <a:ext cx="2537528" cy="102870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32" name="Google Shape;232;p31"/>
          <p:cNvSpPr/>
          <p:nvPr/>
        </p:nvSpPr>
        <p:spPr>
          <a:xfrm>
            <a:off x="3291928" y="4114800"/>
            <a:ext cx="82298" cy="1028700"/>
          </a:xfrm>
          <a:prstGeom prst="rect">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33" name="Google Shape;233;p31"/>
          <p:cNvSpPr txBox="1"/>
          <p:nvPr/>
        </p:nvSpPr>
        <p:spPr>
          <a:xfrm>
            <a:off x="3463382" y="4238244"/>
            <a:ext cx="2297491" cy="4800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003262"/>
                </a:solidFill>
                <a:latin typeface="Fraunces"/>
                <a:ea typeface="Fraunces"/>
                <a:cs typeface="Fraunces"/>
                <a:sym typeface="Fraunces"/>
              </a:rPr>
              <a:t>2022-24</a:t>
            </a:r>
            <a:endParaRPr sz="1100"/>
          </a:p>
        </p:txBody>
      </p:sp>
      <p:sp>
        <p:nvSpPr>
          <p:cNvPr id="234" name="Google Shape;234;p31"/>
          <p:cNvSpPr txBox="1"/>
          <p:nvPr/>
        </p:nvSpPr>
        <p:spPr>
          <a:xfrm>
            <a:off x="3463382" y="4745736"/>
            <a:ext cx="22974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5A6473"/>
                </a:solidFill>
                <a:latin typeface="Inter"/>
                <a:ea typeface="Inter"/>
                <a:cs typeface="Inter"/>
                <a:sym typeface="Inter"/>
              </a:rPr>
              <a:t>Fall terms studied</a:t>
            </a:r>
            <a:endParaRPr sz="1100"/>
          </a:p>
        </p:txBody>
      </p:sp>
      <p:sp>
        <p:nvSpPr>
          <p:cNvPr id="235" name="Google Shape;235;p31"/>
          <p:cNvSpPr/>
          <p:nvPr/>
        </p:nvSpPr>
        <p:spPr>
          <a:xfrm>
            <a:off x="6035201" y="4114800"/>
            <a:ext cx="2537528" cy="1028700"/>
          </a:xfrm>
          <a:prstGeom prst="roundRect">
            <a:avLst>
              <a:gd fmla="val 16667" name="adj"/>
            </a:avLst>
          </a:prstGeom>
          <a:solidFill>
            <a:srgbClr val="F7F5F0"/>
          </a:solidFill>
          <a:ln cap="flat" cmpd="sng" w="12700">
            <a:solidFill>
              <a:srgbClr val="D9D2C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36" name="Google Shape;236;p31"/>
          <p:cNvSpPr/>
          <p:nvPr/>
        </p:nvSpPr>
        <p:spPr>
          <a:xfrm>
            <a:off x="6035201" y="4114800"/>
            <a:ext cx="82298" cy="1028700"/>
          </a:xfrm>
          <a:prstGeom prst="rect">
            <a:avLst/>
          </a:prstGeom>
          <a:solidFill>
            <a:srgbClr val="FDB51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37" name="Google Shape;237;p31"/>
          <p:cNvSpPr txBox="1"/>
          <p:nvPr/>
        </p:nvSpPr>
        <p:spPr>
          <a:xfrm>
            <a:off x="6206655" y="4238244"/>
            <a:ext cx="2297491" cy="4800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003262"/>
                </a:solidFill>
                <a:latin typeface="Fraunces"/>
                <a:ea typeface="Fraunces"/>
                <a:cs typeface="Fraunces"/>
                <a:sym typeface="Fraunces"/>
              </a:rPr>
              <a:t>9.4%</a:t>
            </a:r>
            <a:endParaRPr sz="1100"/>
          </a:p>
        </p:txBody>
      </p:sp>
      <p:sp>
        <p:nvSpPr>
          <p:cNvPr id="238" name="Google Shape;238;p31"/>
          <p:cNvSpPr txBox="1"/>
          <p:nvPr/>
        </p:nvSpPr>
        <p:spPr>
          <a:xfrm>
            <a:off x="6206655" y="4745736"/>
            <a:ext cx="22974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5A6473"/>
                </a:solidFill>
                <a:latin typeface="Inter"/>
                <a:ea typeface="Inter"/>
                <a:cs typeface="Inter"/>
                <a:sym typeface="Inter"/>
              </a:rPr>
              <a:t>Statewide UC admit rate</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2" name="Shape 242"/>
        <p:cNvGrpSpPr/>
        <p:nvPr/>
      </p:nvGrpSpPr>
      <p:grpSpPr>
        <a:xfrm>
          <a:off x="0" y="0"/>
          <a:ext cx="0" cy="0"/>
          <a:chOff x="0" y="0"/>
          <a:chExt cx="0" cy="0"/>
        </a:xfrm>
      </p:grpSpPr>
      <p:sp>
        <p:nvSpPr>
          <p:cNvPr id="243" name="Google Shape;243;p32"/>
          <p:cNvSpPr txBox="1"/>
          <p:nvPr/>
        </p:nvSpPr>
        <p:spPr>
          <a:xfrm>
            <a:off x="411491" y="308610"/>
            <a:ext cx="7544001"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E6A200"/>
                </a:solidFill>
                <a:latin typeface="IBM Plex Mono"/>
                <a:ea typeface="IBM Plex Mono"/>
                <a:cs typeface="IBM Plex Mono"/>
                <a:sym typeface="IBM Plex Mono"/>
              </a:rPr>
              <a:t>SUMMARY</a:t>
            </a:r>
            <a:endParaRPr sz="1100"/>
          </a:p>
        </p:txBody>
      </p:sp>
      <p:sp>
        <p:nvSpPr>
          <p:cNvPr id="244" name="Google Shape;244;p32"/>
          <p:cNvSpPr txBox="1"/>
          <p:nvPr/>
        </p:nvSpPr>
        <p:spPr>
          <a:xfrm>
            <a:off x="411491" y="685800"/>
            <a:ext cx="8298401" cy="10972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700" u="none" cap="none" strike="noStrike">
                <a:solidFill>
                  <a:srgbClr val="003262"/>
                </a:solidFill>
                <a:latin typeface="Fraunces"/>
                <a:ea typeface="Fraunces"/>
                <a:cs typeface="Fraunces"/>
                <a:sym typeface="Fraunces"/>
              </a:rPr>
              <a:t>What we delivered</a:t>
            </a:r>
            <a:endParaRPr sz="1100"/>
          </a:p>
        </p:txBody>
      </p:sp>
      <p:sp>
        <p:nvSpPr>
          <p:cNvPr id="245" name="Google Shape;245;p32"/>
          <p:cNvSpPr txBox="1"/>
          <p:nvPr/>
        </p:nvSpPr>
        <p:spPr>
          <a:xfrm>
            <a:off x="411491" y="1440180"/>
            <a:ext cx="8298401" cy="28803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rgbClr val="0E1726"/>
                </a:solidFill>
                <a:latin typeface="Inter"/>
                <a:ea typeface="Inter"/>
                <a:cs typeface="Inter"/>
                <a:sym typeface="Inter"/>
              </a:rPr>
              <a:t>Question: which CA public school type beats its expected UC admit rate, controlling for poverty, GPA, size</a:t>
            </a:r>
            <a:endParaRPr sz="1100"/>
          </a:p>
          <a:p>
            <a:pPr indent="0" lvl="0" marL="0" marR="0" rtl="0" algn="l">
              <a:spcBef>
                <a:spcPts val="900"/>
              </a:spcBef>
              <a:spcAft>
                <a:spcPts val="0"/>
              </a:spcAft>
              <a:buNone/>
            </a:pPr>
            <a:r>
              <a:rPr b="0" i="0" lang="en" sz="1400" u="none" cap="none" strike="noStrike">
                <a:solidFill>
                  <a:srgbClr val="0E1726"/>
                </a:solidFill>
                <a:latin typeface="Inter"/>
                <a:ea typeface="Inter"/>
                <a:cs typeface="Inter"/>
                <a:sym typeface="Inter"/>
              </a:rPr>
              <a:t>Finding: Continuation High Schools, +21.5pp above expectation, highest of five types</a:t>
            </a:r>
            <a:endParaRPr sz="1100"/>
          </a:p>
          <a:p>
            <a:pPr indent="0" lvl="0" marL="0" marR="0" rtl="0" algn="l">
              <a:spcBef>
                <a:spcPts val="900"/>
              </a:spcBef>
              <a:spcAft>
                <a:spcPts val="0"/>
              </a:spcAft>
              <a:buNone/>
            </a:pPr>
            <a:r>
              <a:rPr b="0" i="0" lang="en" sz="1400" u="none" cap="none" strike="noStrike">
                <a:solidFill>
                  <a:srgbClr val="0E1726"/>
                </a:solidFill>
                <a:latin typeface="Inter"/>
                <a:ea typeface="Inter"/>
                <a:cs typeface="Inter"/>
                <a:sym typeface="Inter"/>
              </a:rPr>
              <a:t>Rigor: precomputed residual column, sum-then-divide, Universitywide not a campus sum</a:t>
            </a:r>
            <a:endParaRPr sz="1100"/>
          </a:p>
          <a:p>
            <a:pPr indent="0" lvl="0" marL="0" marR="0" rtl="0" algn="l">
              <a:spcBef>
                <a:spcPts val="900"/>
              </a:spcBef>
              <a:spcAft>
                <a:spcPts val="0"/>
              </a:spcAft>
              <a:buNone/>
            </a:pPr>
            <a:r>
              <a:rPr b="0" i="0" lang="en" sz="1400" u="none" cap="none" strike="noStrike">
                <a:solidFill>
                  <a:srgbClr val="0E1726"/>
                </a:solidFill>
                <a:latin typeface="Inter"/>
                <a:ea typeface="Inter"/>
                <a:cs typeface="Inter"/>
                <a:sym typeface="Inter"/>
              </a:rPr>
              <a:t>Dashboard: live Streamlit app with map, top-schools, CS context, deep analysis</a:t>
            </a:r>
            <a:endParaRPr sz="1100"/>
          </a:p>
          <a:p>
            <a:pPr indent="0" lvl="0" marL="0" marR="0" rtl="0" algn="l">
              <a:spcBef>
                <a:spcPts val="900"/>
              </a:spcBef>
              <a:spcAft>
                <a:spcPts val="0"/>
              </a:spcAft>
              <a:buNone/>
            </a:pPr>
            <a:r>
              <a:rPr b="0" i="0" lang="en" sz="1400" u="none" cap="none" strike="noStrike">
                <a:solidFill>
                  <a:srgbClr val="0E1726"/>
                </a:solidFill>
                <a:latin typeface="Inter"/>
                <a:ea typeface="Inter"/>
                <a:cs typeface="Inter"/>
                <a:sym typeface="Inter"/>
              </a:rPr>
              <a:t>AI: Gemini used to validate and sharpen, not to fabricate</a:t>
            </a:r>
            <a:endParaRPr sz="1100"/>
          </a:p>
        </p:txBody>
      </p:sp>
      <p:sp>
        <p:nvSpPr>
          <p:cNvPr id="246" name="Google Shape;246;p32"/>
          <p:cNvSpPr txBox="1"/>
          <p:nvPr/>
        </p:nvSpPr>
        <p:spPr>
          <a:xfrm>
            <a:off x="411491" y="4183380"/>
            <a:ext cx="8298401" cy="5486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800" u="none" cap="none" strike="noStrike">
                <a:solidFill>
                  <a:srgbClr val="003262"/>
                </a:solidFill>
                <a:latin typeface="Fraunces"/>
                <a:ea typeface="Fraunces"/>
                <a:cs typeface="Fraunces"/>
                <a:sym typeface="Fraunces"/>
              </a:rPr>
              <a:t>Thank you. Questions?</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